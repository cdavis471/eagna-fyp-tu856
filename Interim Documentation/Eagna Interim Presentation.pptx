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5" r:id="rId9"/>
    <p:sldId id="268" r:id="rId10"/>
    <p:sldId id="264" r:id="rId11"/>
    <p:sldId id="266" r:id="rId12"/>
    <p:sldId id="267" r:id="rId13"/>
    <p:sldId id="258" r:id="rId14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164D"/>
    <a:srgbClr val="3551B8"/>
    <a:srgbClr val="163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005E17-0387-016C-C97D-71523CE78D3C}" v="188" dt="2025-11-28T15:28:23.1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6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488FEF2-D2D7-BE81-6FF7-F854F9B448E8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0716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019" y="87194"/>
            <a:ext cx="11947584" cy="2603261"/>
          </a:xfrm>
        </p:spPr>
        <p:txBody>
          <a:bodyPr>
            <a:normAutofit/>
          </a:bodyPr>
          <a:lstStyle/>
          <a:p>
            <a:r>
              <a:rPr lang="en-GB" sz="9600" b="1" dirty="0">
                <a:solidFill>
                  <a:schemeClr val="bg1"/>
                </a:solidFill>
                <a:latin typeface="Verdana Pro"/>
                <a:cs typeface="Mangal"/>
              </a:rPr>
              <a:t>EAGNA</a:t>
            </a:r>
            <a:endParaRPr lang="en-US" sz="9600" b="1">
              <a:solidFill>
                <a:schemeClr val="bg1"/>
              </a:solidFill>
              <a:latin typeface="Verdana Pro"/>
              <a:cs typeface="Mangal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397" y="2696265"/>
            <a:ext cx="11947584" cy="405678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GB" sz="3200" dirty="0">
              <a:solidFill>
                <a:schemeClr val="bg1"/>
              </a:solidFill>
              <a:latin typeface="Verdana Pro Light"/>
            </a:endParaRPr>
          </a:p>
          <a:p>
            <a:r>
              <a:rPr lang="en-GB" sz="4000" dirty="0">
                <a:solidFill>
                  <a:schemeClr val="bg1"/>
                </a:solidFill>
                <a:latin typeface="Verdana Pro Light"/>
              </a:rPr>
              <a:t>An Integrated Virtual Learning Environment</a:t>
            </a:r>
            <a:endParaRPr lang="en-GB" sz="4000">
              <a:solidFill>
                <a:schemeClr val="bg1"/>
              </a:solidFill>
              <a:latin typeface="Verdana Pro Light"/>
            </a:endParaRPr>
          </a:p>
          <a:p>
            <a:endParaRPr lang="en-GB" dirty="0">
              <a:solidFill>
                <a:schemeClr val="bg1"/>
              </a:solidFill>
              <a:latin typeface="Verdana Pro Light"/>
            </a:endParaRPr>
          </a:p>
          <a:p>
            <a:r>
              <a:rPr lang="en-GB" sz="2800" b="1" dirty="0">
                <a:solidFill>
                  <a:schemeClr val="bg1"/>
                </a:solidFill>
                <a:latin typeface="Verdana Pro Semibold"/>
              </a:rPr>
              <a:t>Conor Davis </a:t>
            </a:r>
            <a:r>
              <a:rPr lang="en-GB" sz="2800" dirty="0">
                <a:solidFill>
                  <a:schemeClr val="bg1"/>
                </a:solidFill>
                <a:latin typeface="Verdana Pro Light"/>
              </a:rPr>
              <a:t>|</a:t>
            </a:r>
            <a:r>
              <a:rPr lang="en-GB" sz="2800" b="1" dirty="0">
                <a:solidFill>
                  <a:schemeClr val="bg1"/>
                </a:solidFill>
                <a:latin typeface="Verdana Pro Semibold"/>
              </a:rPr>
              <a:t> C20441826 </a:t>
            </a:r>
            <a:r>
              <a:rPr lang="en-GB" sz="2800" dirty="0">
                <a:solidFill>
                  <a:schemeClr val="bg1"/>
                </a:solidFill>
                <a:latin typeface="Verdana Pro Light"/>
              </a:rPr>
              <a:t>|</a:t>
            </a:r>
            <a:r>
              <a:rPr lang="en-GB" sz="2800" b="1" dirty="0">
                <a:solidFill>
                  <a:schemeClr val="bg1"/>
                </a:solidFill>
                <a:latin typeface="Verdana Pro Semibold"/>
              </a:rPr>
              <a:t> TU856/4</a:t>
            </a:r>
          </a:p>
          <a:p>
            <a:endParaRPr lang="en-GB" sz="2800" dirty="0">
              <a:solidFill>
                <a:schemeClr val="bg1"/>
              </a:solidFill>
              <a:latin typeface="Verdana Pro Light"/>
            </a:endParaRPr>
          </a:p>
          <a:p>
            <a:r>
              <a:rPr lang="en-GB" sz="2800" dirty="0">
                <a:solidFill>
                  <a:schemeClr val="bg1"/>
                </a:solidFill>
                <a:latin typeface="Verdana Pro Light"/>
              </a:rPr>
              <a:t>Supervisor – Eoin Rogers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E5BCD-16A1-D841-A722-5BD18BAB8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1C5832A-6D9E-2CD0-5DBF-E02D6E3AA2E3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B56AAC-72C2-59EF-0C1A-8FD4E53625F9}"/>
              </a:ext>
            </a:extLst>
          </p:cNvPr>
          <p:cNvSpPr/>
          <p:nvPr/>
        </p:nvSpPr>
        <p:spPr>
          <a:xfrm>
            <a:off x="276794" y="249820"/>
            <a:ext cx="5818077" cy="636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831082-4F86-B18B-D12F-0B1870ED81A9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 dirty="0">
                <a:solidFill>
                  <a:srgbClr val="07164D"/>
                </a:solidFill>
                <a:latin typeface="Verdana Pro"/>
              </a:rPr>
              <a:t>Overview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35663-DEE9-C48B-2488-F8FF56BB29CA}"/>
              </a:ext>
            </a:extLst>
          </p:cNvPr>
          <p:cNvSpPr txBox="1"/>
          <p:nvPr/>
        </p:nvSpPr>
        <p:spPr>
          <a:xfrm>
            <a:off x="380108" y="1101649"/>
            <a:ext cx="5607169" cy="156966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Eagna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is a condensed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Virtual Learning Environment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designed for the Technological University of Dublin.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6FBB5F-65B7-F0F5-9240-59C3F1AAB260}"/>
              </a:ext>
            </a:extLst>
          </p:cNvPr>
          <p:cNvSpPr txBox="1"/>
          <p:nvPr/>
        </p:nvSpPr>
        <p:spPr>
          <a:xfrm>
            <a:off x="376313" y="2904303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Features: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9E48B-1347-8FE5-871C-AF48A07CC10C}"/>
              </a:ext>
            </a:extLst>
          </p:cNvPr>
          <p:cNvSpPr txBox="1"/>
          <p:nvPr/>
        </p:nvSpPr>
        <p:spPr>
          <a:xfrm>
            <a:off x="380598" y="3630777"/>
            <a:ext cx="5713802" cy="298543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Login</a:t>
            </a: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for Student &amp; Lecturers.</a:t>
            </a:r>
            <a:b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</a:b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Registration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for Students.</a:t>
            </a:r>
            <a:br>
              <a:rPr lang="en-GB" sz="2400" dirty="0">
                <a:solidFill>
                  <a:srgbClr val="3551B8"/>
                </a:solidFill>
                <a:latin typeface="Verdana Pro"/>
              </a:rPr>
            </a:b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Modules</a:t>
            </a: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&amp;</a:t>
            </a:r>
            <a: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Assignments</a:t>
            </a:r>
            <a:r>
              <a:rPr lang="en-GB" sz="2400" b="1" dirty="0">
                <a:solidFill>
                  <a:srgbClr val="3551B8"/>
                </a:solidFill>
                <a:latin typeface="Verdana Pro Semibold"/>
              </a:rPr>
              <a:t>.</a:t>
            </a:r>
            <a:br>
              <a:rPr lang="en-GB" sz="2400" b="1" dirty="0">
                <a:solidFill>
                  <a:srgbClr val="07164D"/>
                </a:solidFill>
                <a:latin typeface="Verdana Pro Semibold"/>
              </a:rPr>
            </a:b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Admin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&amp;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External Tools</a:t>
            </a:r>
            <a:r>
              <a:rPr lang="en-GB" sz="2400" b="1" dirty="0">
                <a:solidFill>
                  <a:srgbClr val="3551B8"/>
                </a:solidFill>
                <a:latin typeface="Verdana Pro Semibold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</p:txBody>
      </p:sp>
      <p:pic>
        <p:nvPicPr>
          <p:cNvPr id="2" name="Picture 1" descr="TU Dublin - Elite Sport">
            <a:extLst>
              <a:ext uri="{FF2B5EF4-FFF2-40B4-BE49-F238E27FC236}">
                <a16:creationId xmlns:a16="http://schemas.microsoft.com/office/drawing/2014/main" id="{4B47643A-DF1E-9412-C7AD-147FF1BA7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650" y="1538180"/>
            <a:ext cx="5981699" cy="377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437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26B8C3-D651-0F36-20E8-D24B927E6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2ABC23-EBE9-B592-0CDB-633E5C0414AF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F44C5-342D-71FE-465B-20D0D080B0F9}"/>
              </a:ext>
            </a:extLst>
          </p:cNvPr>
          <p:cNvSpPr/>
          <p:nvPr/>
        </p:nvSpPr>
        <p:spPr>
          <a:xfrm>
            <a:off x="276794" y="249820"/>
            <a:ext cx="5818077" cy="636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7C54C2-E413-197F-4BE1-20D31D940652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 dirty="0">
                <a:solidFill>
                  <a:srgbClr val="07164D"/>
                </a:solidFill>
                <a:latin typeface="Verdana Pro"/>
              </a:rPr>
              <a:t>Why?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B0DF11-67BA-D47F-7443-68C58E0A8842}"/>
              </a:ext>
            </a:extLst>
          </p:cNvPr>
          <p:cNvSpPr txBox="1"/>
          <p:nvPr/>
        </p:nvSpPr>
        <p:spPr>
          <a:xfrm>
            <a:off x="373808" y="1082755"/>
            <a:ext cx="5607169" cy="513986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3551B8"/>
                </a:solidFill>
                <a:latin typeface="Verdana Pro"/>
              </a:rPr>
              <a:t>This project</a:t>
            </a:r>
            <a:r>
              <a:rPr lang="en-GB" sz="2400" b="1" dirty="0">
                <a:solidFill>
                  <a:srgbClr val="3551B8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was designed to deal with the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registration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&amp;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Brightspace enrolment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problem.</a:t>
            </a:r>
            <a:endParaRPr lang="en-US">
              <a:solidFill>
                <a:srgbClr val="3551B8"/>
              </a:solidFill>
            </a:endParaRPr>
          </a:p>
          <a:p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Advantages:</a:t>
            </a:r>
          </a:p>
          <a:p>
            <a:endParaRPr lang="en-GB" sz="2000" dirty="0"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Built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to be hosted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on-site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br>
              <a:rPr lang="en-GB" sz="2400" dirty="0">
                <a:solidFill>
                  <a:srgbClr val="07164D"/>
                </a:solidFill>
                <a:latin typeface="Verdana Pro"/>
              </a:rPr>
            </a:br>
            <a:r>
              <a:rPr lang="en-GB" sz="2400" dirty="0">
                <a:solidFill>
                  <a:srgbClr val="3551B8"/>
                </a:solidFill>
                <a:latin typeface="Verdana Pro"/>
              </a:rPr>
              <a:t>or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on-cloud</a:t>
            </a:r>
            <a:r>
              <a:rPr lang="en-GB" sz="2400" b="1" dirty="0">
                <a:solidFill>
                  <a:srgbClr val="3551B8"/>
                </a:solidFill>
                <a:latin typeface="Verdana Pro Semibold"/>
              </a:rPr>
              <a:t>.</a:t>
            </a:r>
            <a:br>
              <a:rPr lang="en-GB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</a:b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Change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features on-demand.</a:t>
            </a:r>
            <a:br>
              <a:rPr lang="en-GB" sz="2400" dirty="0">
                <a:solidFill>
                  <a:srgbClr val="3551B8"/>
                </a:solidFill>
                <a:latin typeface="Verdana Pro"/>
              </a:rPr>
            </a:b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Control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over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security &amp; management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of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sensitive data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.</a:t>
            </a:r>
          </a:p>
          <a:p>
            <a:pPr marL="342900" indent="-342900">
              <a:buFont typeface="Arial"/>
              <a:buChar char="•"/>
            </a:pP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</p:txBody>
      </p:sp>
      <p:pic>
        <p:nvPicPr>
          <p:cNvPr id="2" name="Picture 1" descr="A screenshot of a black text box&#10;&#10;AI-generated content may be incorrect.">
            <a:extLst>
              <a:ext uri="{FF2B5EF4-FFF2-40B4-BE49-F238E27FC236}">
                <a16:creationId xmlns:a16="http://schemas.microsoft.com/office/drawing/2014/main" id="{CC806535-FB91-8B5D-998F-C8DD6EF4A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733" y="281517"/>
            <a:ext cx="5611283" cy="6294967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51981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32C36-33CA-EFCC-0295-C1440C21B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0F9AC7-CFDC-8955-E40E-888290ACCAE5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EEFD4A-6117-462E-37EE-E213255A4545}"/>
              </a:ext>
            </a:extLst>
          </p:cNvPr>
          <p:cNvSpPr/>
          <p:nvPr/>
        </p:nvSpPr>
        <p:spPr>
          <a:xfrm>
            <a:off x="276794" y="249820"/>
            <a:ext cx="5818077" cy="636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C07B9B-EFCD-AEC1-C88E-85A49DCC2DCA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 dirty="0">
                <a:solidFill>
                  <a:srgbClr val="07164D"/>
                </a:solidFill>
                <a:latin typeface="Verdana Pro"/>
              </a:rPr>
              <a:t>Research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4E3185-A747-AF41-2617-F223CEA7CF55}"/>
              </a:ext>
            </a:extLst>
          </p:cNvPr>
          <p:cNvSpPr txBox="1"/>
          <p:nvPr/>
        </p:nvSpPr>
        <p:spPr>
          <a:xfrm>
            <a:off x="380108" y="1101649"/>
            <a:ext cx="5607169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Extensive</a:t>
            </a:r>
            <a:r>
              <a:rPr lang="en-GB" sz="2400" b="1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research was performed to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understand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VLEs.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B3BE1B-C2AA-DD00-0FFA-668061017C85}"/>
              </a:ext>
            </a:extLst>
          </p:cNvPr>
          <p:cNvSpPr txBox="1"/>
          <p:nvPr/>
        </p:nvSpPr>
        <p:spPr>
          <a:xfrm>
            <a:off x="376313" y="2258719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Including:</a:t>
            </a:r>
            <a:endParaRPr lang="en-US" dirty="0">
              <a:solidFill>
                <a:srgbClr val="07164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0A834B-F80D-56EF-3718-CF3B1A029CDB}"/>
              </a:ext>
            </a:extLst>
          </p:cNvPr>
          <p:cNvSpPr txBox="1"/>
          <p:nvPr/>
        </p:nvSpPr>
        <p:spPr>
          <a:xfrm>
            <a:off x="327681" y="3122776"/>
            <a:ext cx="5713802" cy="298543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Existing 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VLEs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(Brightspace etc.)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Technologies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(Django etc.)</a:t>
            </a:r>
            <a:br>
              <a:rPr lang="en-GB" sz="2400" dirty="0">
                <a:solidFill>
                  <a:srgbClr val="3551B8"/>
                </a:solidFill>
                <a:latin typeface="Verdana Pro"/>
              </a:rPr>
            </a:br>
            <a:endParaRPr lang="en-GB" sz="2400" dirty="0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Requirements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(Accessibility etc.)</a:t>
            </a:r>
            <a:br>
              <a:rPr lang="en-GB" sz="2400" dirty="0">
                <a:solidFill>
                  <a:srgbClr val="3551B8"/>
                </a:solidFill>
                <a:latin typeface="Verdana Pro"/>
              </a:rPr>
            </a:br>
            <a:endParaRPr lang="en-GB" sz="2400" dirty="0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Existing Final Year Projects</a:t>
            </a:r>
          </a:p>
          <a:p>
            <a:pPr marL="342900" indent="-342900">
              <a:buFont typeface="Arial"/>
              <a:buChar char="•"/>
            </a:pP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</p:txBody>
      </p:sp>
      <p:pic>
        <p:nvPicPr>
          <p:cNvPr id="5" name="Picture 4" descr="A screenshot of a website&#10;&#10;AI-generated content may be incorrect.">
            <a:extLst>
              <a:ext uri="{FF2B5EF4-FFF2-40B4-BE49-F238E27FC236}">
                <a16:creationId xmlns:a16="http://schemas.microsoft.com/office/drawing/2014/main" id="{98F0929C-3B25-C982-41EB-75CB38B32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2797" y="295804"/>
            <a:ext cx="5605991" cy="6266392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421644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4DDB3-A423-AE06-4696-547B30E5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F6D52B-F872-4AE8-AB2E-D2395FCF4568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C1E02DA-3DFA-1C25-B5E9-5FC63CFAFE6B}"/>
              </a:ext>
            </a:extLst>
          </p:cNvPr>
          <p:cNvSpPr/>
          <p:nvPr/>
        </p:nvSpPr>
        <p:spPr>
          <a:xfrm>
            <a:off x="276794" y="249820"/>
            <a:ext cx="5818077" cy="636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B38404-56FB-8A2D-82EE-B93098556AC4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 dirty="0">
                <a:solidFill>
                  <a:srgbClr val="07164D"/>
                </a:solidFill>
                <a:latin typeface="Verdana Pro"/>
              </a:rPr>
              <a:t>Requirements</a:t>
            </a:r>
            <a:endParaRPr lang="en-US" dirty="0">
              <a:solidFill>
                <a:srgbClr val="07164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FBEDE7-5BEB-4328-B3C4-C8B12E9150DF}"/>
              </a:ext>
            </a:extLst>
          </p:cNvPr>
          <p:cNvSpPr txBox="1"/>
          <p:nvPr/>
        </p:nvSpPr>
        <p:spPr>
          <a:xfrm>
            <a:off x="380108" y="1101649"/>
            <a:ext cx="5607169" cy="120032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3551B8"/>
                </a:solidFill>
                <a:latin typeface="Verdana Pro"/>
              </a:rPr>
              <a:t>Feedback collection &amp; requirements gathering performed to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understand user needs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691ECE-2B76-100D-7BC6-A966C4BC7706}"/>
              </a:ext>
            </a:extLst>
          </p:cNvPr>
          <p:cNvSpPr txBox="1"/>
          <p:nvPr/>
        </p:nvSpPr>
        <p:spPr>
          <a:xfrm>
            <a:off x="376313" y="2449219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Including:</a:t>
            </a:r>
            <a:endParaRPr lang="en-US">
              <a:solidFill>
                <a:srgbClr val="07164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712186-7BA5-4A9A-DA45-E0A3930D43D6}"/>
              </a:ext>
            </a:extLst>
          </p:cNvPr>
          <p:cNvSpPr txBox="1"/>
          <p:nvPr/>
        </p:nvSpPr>
        <p:spPr>
          <a:xfrm>
            <a:off x="327681" y="3281526"/>
            <a:ext cx="5713802" cy="2985433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Questionnaires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Brightspace</a:t>
            </a:r>
            <a:r>
              <a:rPr lang="en-GB" sz="2400" b="1" dirty="0">
                <a:solidFill>
                  <a:srgbClr val="07164D"/>
                </a:solidFill>
                <a:latin typeface="Verdana Pro Semibold"/>
              </a:rPr>
              <a:t> Feature Review</a:t>
            </a:r>
            <a:br>
              <a:rPr lang="en-GB" sz="2400" dirty="0">
                <a:solidFill>
                  <a:srgbClr val="07164D"/>
                </a:solidFill>
                <a:latin typeface="Verdana Pro"/>
              </a:rPr>
            </a:br>
            <a:endParaRPr lang="en-GB" sz="2400" dirty="0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Use Case Scenarios</a:t>
            </a:r>
            <a:endParaRPr lang="en-GB" sz="2400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 Semibold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Requirements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Specification</a:t>
            </a:r>
          </a:p>
          <a:p>
            <a:pPr marL="342900" indent="-342900">
              <a:buFont typeface="Arial"/>
              <a:buChar char="•"/>
            </a:pPr>
            <a:endParaRPr lang="en-GB" sz="20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</p:txBody>
      </p:sp>
      <p:pic>
        <p:nvPicPr>
          <p:cNvPr id="3" name="Picture 2" descr="A screenshot of a survey&#10;&#10;AI-generated content may be incorrect.">
            <a:extLst>
              <a:ext uri="{FF2B5EF4-FFF2-40B4-BE49-F238E27FC236}">
                <a16:creationId xmlns:a16="http://schemas.microsoft.com/office/drawing/2014/main" id="{113F18AD-C9A2-DFA1-AD33-962591565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086" y="251883"/>
            <a:ext cx="5669573" cy="6364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9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94EF3-B096-E26D-2FAA-19F9FEEDA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0DD3BC-248A-277E-B5EA-7CF850B59E95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2BB7F9-3ABD-3590-AA10-9E9B93141F50}"/>
              </a:ext>
            </a:extLst>
          </p:cNvPr>
          <p:cNvSpPr/>
          <p:nvPr/>
        </p:nvSpPr>
        <p:spPr>
          <a:xfrm>
            <a:off x="266211" y="228653"/>
            <a:ext cx="5818077" cy="636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2CC486-BAF0-55AE-6A13-375E89D9BB32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800" b="1" dirty="0">
                <a:solidFill>
                  <a:srgbClr val="07164D"/>
                </a:solidFill>
                <a:latin typeface="Verdana Pro"/>
              </a:rPr>
              <a:t>Design</a:t>
            </a:r>
            <a:endParaRPr lang="en-US">
              <a:solidFill>
                <a:srgbClr val="07164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7D11B2-C7D5-9229-7009-F6C2EE353EB1}"/>
              </a:ext>
            </a:extLst>
          </p:cNvPr>
          <p:cNvSpPr txBox="1"/>
          <p:nvPr/>
        </p:nvSpPr>
        <p:spPr>
          <a:xfrm>
            <a:off x="380108" y="1101649"/>
            <a:ext cx="5607169" cy="52629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Feature Driven Development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was chosen as the methodology.</a:t>
            </a:r>
            <a:endParaRPr lang="en-US">
              <a:solidFill>
                <a:srgbClr val="3551B8"/>
              </a:solidFill>
            </a:endParaRP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400" dirty="0">
                <a:solidFill>
                  <a:srgbClr val="3551B8"/>
                </a:solidFill>
                <a:latin typeface="Verdana Pro"/>
              </a:rPr>
              <a:t>The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design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of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err="1">
                <a:solidFill>
                  <a:srgbClr val="07164D"/>
                </a:solidFill>
                <a:latin typeface="Verdana Pro Semibold"/>
              </a:rPr>
              <a:t>Eagna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has been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outlined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based on the following:</a:t>
            </a:r>
            <a:endParaRPr lang="en-GB">
              <a:solidFill>
                <a:srgbClr val="3551B8"/>
              </a:solidFill>
              <a:latin typeface="Verdana Pro"/>
            </a:endParaRPr>
          </a:p>
          <a:p>
            <a:endParaRPr lang="en-GB" sz="2400" dirty="0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Dependencies</a:t>
            </a:r>
            <a:endParaRPr lang="en-GB" b="1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 Semibold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Complexity</a:t>
            </a:r>
            <a:endParaRPr lang="en-GB" b="1">
              <a:solidFill>
                <a:srgbClr val="07164D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 Semibold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Risk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"/>
            </a:endParaRPr>
          </a:p>
          <a:p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Wireframes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&amp;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Diagrams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have been used to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visualize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the design.</a:t>
            </a:r>
          </a:p>
        </p:txBody>
      </p:sp>
      <p:pic>
        <p:nvPicPr>
          <p:cNvPr id="2" name="Picture 1" descr="A blue and white screen with white text&#10;&#10;AI-generated content may be incorrect.">
            <a:extLst>
              <a:ext uri="{FF2B5EF4-FFF2-40B4-BE49-F238E27FC236}">
                <a16:creationId xmlns:a16="http://schemas.microsoft.com/office/drawing/2014/main" id="{4124F987-6435-2369-B95A-4425DD3C50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07" r="6207" b="166"/>
          <a:stretch>
            <a:fillRect/>
          </a:stretch>
        </p:blipFill>
        <p:spPr>
          <a:xfrm>
            <a:off x="6289675" y="270986"/>
            <a:ext cx="5574607" cy="6288631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9646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144FC-F091-3249-DC83-7D3A9A37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55C03A-7101-A69D-D2B8-9A58D028D265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ACE40A9A-D273-C2B8-D33C-F953A1586E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4" t="4074" r="1697" b="7037"/>
          <a:stretch>
            <a:fillRect/>
          </a:stretch>
        </p:blipFill>
        <p:spPr>
          <a:xfrm>
            <a:off x="1534906" y="254000"/>
            <a:ext cx="9058383" cy="63923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D8FB11-9020-A7E5-BBE6-84A667ABFF5D}"/>
              </a:ext>
            </a:extLst>
          </p:cNvPr>
          <p:cNvSpPr txBox="1"/>
          <p:nvPr/>
        </p:nvSpPr>
        <p:spPr>
          <a:xfrm>
            <a:off x="21166" y="22365"/>
            <a:ext cx="2878667" cy="2083269"/>
          </a:xfrm>
          <a:prstGeom prst="rect">
            <a:avLst/>
          </a:prstGeom>
          <a:solidFill>
            <a:srgbClr val="07164D"/>
          </a:solidFill>
          <a:ln w="57150">
            <a:solidFill>
              <a:srgbClr val="07164D"/>
            </a:solidFill>
            <a:prstDash val="solid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3600" b="1" dirty="0">
              <a:solidFill>
                <a:schemeClr val="bg1"/>
              </a:solidFill>
              <a:latin typeface="Verdana Pro"/>
            </a:endParaRPr>
          </a:p>
          <a:p>
            <a:pPr algn="ctr"/>
            <a:r>
              <a:rPr lang="en-US" sz="2800" b="1" dirty="0">
                <a:solidFill>
                  <a:schemeClr val="bg1"/>
                </a:solidFill>
                <a:latin typeface="Verdana Pro"/>
              </a:rPr>
              <a:t>SYSTEM OVERVIEW</a:t>
            </a:r>
            <a:endParaRPr lang="en-US" sz="3200">
              <a:solidFill>
                <a:schemeClr val="bg1"/>
              </a:solidFill>
              <a:latin typeface="Aptos"/>
            </a:endParaRPr>
          </a:p>
          <a:p>
            <a:pPr algn="ctr"/>
            <a:endParaRPr lang="en-US" sz="3600" b="1" dirty="0">
              <a:solidFill>
                <a:schemeClr val="bg1"/>
              </a:solidFill>
              <a:latin typeface="Verdana Pro"/>
            </a:endParaRPr>
          </a:p>
        </p:txBody>
      </p:sp>
    </p:spTree>
    <p:extLst>
      <p:ext uri="{BB962C8B-B14F-4D97-AF65-F5344CB8AC3E}">
        <p14:creationId xmlns:p14="http://schemas.microsoft.com/office/powerpoint/2010/main" val="227881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E2DA-19DB-FE3A-DC05-9298CB649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A5B140-AC06-6F33-DF68-6EFBDB0CA912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FBB15B9-BA80-A473-7F0C-DA42DB5ED053}"/>
              </a:ext>
            </a:extLst>
          </p:cNvPr>
          <p:cNvSpPr/>
          <p:nvPr/>
        </p:nvSpPr>
        <p:spPr>
          <a:xfrm>
            <a:off x="266211" y="257960"/>
            <a:ext cx="5827846" cy="6283828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C265FC-D001-AC37-1957-F63F0667629E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Implementation</a:t>
            </a:r>
            <a:endParaRPr lang="en-US">
              <a:solidFill>
                <a:srgbClr val="07164D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79660A-88E7-3DD3-DF57-E5738E416327}"/>
              </a:ext>
            </a:extLst>
          </p:cNvPr>
          <p:cNvSpPr/>
          <p:nvPr/>
        </p:nvSpPr>
        <p:spPr>
          <a:xfrm>
            <a:off x="6244166" y="260403"/>
            <a:ext cx="5701661" cy="6287897"/>
          </a:xfrm>
          <a:prstGeom prst="rect">
            <a:avLst/>
          </a:prstGeom>
          <a:solidFill>
            <a:srgbClr val="07164D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Graphic 1" descr="Django Vector Logo - Download Free SVG Icon | Worldvectorlogo">
            <a:extLst>
              <a:ext uri="{FF2B5EF4-FFF2-40B4-BE49-F238E27FC236}">
                <a16:creationId xmlns:a16="http://schemas.microsoft.com/office/drawing/2014/main" id="{DFF036C6-65A2-7BBF-1267-0628BFDA2F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3650" y="2899266"/>
            <a:ext cx="1081617" cy="1408715"/>
          </a:xfrm>
          <a:prstGeom prst="rect">
            <a:avLst/>
          </a:prstGeom>
        </p:spPr>
      </p:pic>
      <p:pic>
        <p:nvPicPr>
          <p:cNvPr id="12" name="Picture 11" descr="File:Postgresql elephant.svg - Wikimedia Commons">
            <a:extLst>
              <a:ext uri="{FF2B5EF4-FFF2-40B4-BE49-F238E27FC236}">
                <a16:creationId xmlns:a16="http://schemas.microsoft.com/office/drawing/2014/main" id="{1766EE77-4A6C-024B-374A-3FAEAAAF09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1858" y="3915833"/>
            <a:ext cx="1496200" cy="1545167"/>
          </a:xfrm>
          <a:prstGeom prst="rect">
            <a:avLst/>
          </a:prstGeom>
        </p:spPr>
      </p:pic>
      <p:pic>
        <p:nvPicPr>
          <p:cNvPr id="13" name="Picture 12" descr="Container monitoring system Prometheus gets a major update - SiliconANGLE">
            <a:extLst>
              <a:ext uri="{FF2B5EF4-FFF2-40B4-BE49-F238E27FC236}">
                <a16:creationId xmlns:a16="http://schemas.microsoft.com/office/drawing/2014/main" id="{B254A4C0-67D0-1191-1C24-B3D492330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7233" y="4896061"/>
            <a:ext cx="2288117" cy="1394461"/>
          </a:xfrm>
          <a:prstGeom prst="rect">
            <a:avLst/>
          </a:prstGeom>
        </p:spPr>
      </p:pic>
      <p:pic>
        <p:nvPicPr>
          <p:cNvPr id="14" name="Picture 13" descr="File:Grafana icon.svg - Wikimedia Commons">
            <a:extLst>
              <a:ext uri="{FF2B5EF4-FFF2-40B4-BE49-F238E27FC236}">
                <a16:creationId xmlns:a16="http://schemas.microsoft.com/office/drawing/2014/main" id="{86C1CE99-A727-8DF2-1640-ADE026047E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6359" y="4635499"/>
            <a:ext cx="1602034" cy="1651000"/>
          </a:xfrm>
          <a:prstGeom prst="rect">
            <a:avLst/>
          </a:prstGeom>
        </p:spPr>
      </p:pic>
      <p:pic>
        <p:nvPicPr>
          <p:cNvPr id="16" name="Picture 15" descr="File:CSS3 logo and wordmark.svg - Wikimedia Commons">
            <a:extLst>
              <a:ext uri="{FF2B5EF4-FFF2-40B4-BE49-F238E27FC236}">
                <a16:creationId xmlns:a16="http://schemas.microsoft.com/office/drawing/2014/main" id="{44BB191E-38DF-E531-25CE-3F63F661A28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7273" r="1282" b="909"/>
          <a:stretch>
            <a:fillRect/>
          </a:stretch>
        </p:blipFill>
        <p:spPr>
          <a:xfrm>
            <a:off x="8229730" y="1756832"/>
            <a:ext cx="1066571" cy="1229593"/>
          </a:xfrm>
          <a:prstGeom prst="rect">
            <a:avLst/>
          </a:prstGeom>
        </p:spPr>
      </p:pic>
      <p:pic>
        <p:nvPicPr>
          <p:cNvPr id="18" name="Picture 17" descr="HTML - Wikipedia">
            <a:extLst>
              <a:ext uri="{FF2B5EF4-FFF2-40B4-BE49-F238E27FC236}">
                <a16:creationId xmlns:a16="http://schemas.microsoft.com/office/drawing/2014/main" id="{1CECB400-DF77-8B9C-27CB-AD054229671A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9259" t="18210" r="9905"/>
          <a:stretch>
            <a:fillRect/>
          </a:stretch>
        </p:blipFill>
        <p:spPr>
          <a:xfrm>
            <a:off x="6540500" y="2370665"/>
            <a:ext cx="1045783" cy="1058339"/>
          </a:xfrm>
          <a:prstGeom prst="rect">
            <a:avLst/>
          </a:prstGeom>
        </p:spPr>
      </p:pic>
      <p:pic>
        <p:nvPicPr>
          <p:cNvPr id="20" name="Picture 19" descr="VirtualBox - Wikipedia">
            <a:extLst>
              <a:ext uri="{FF2B5EF4-FFF2-40B4-BE49-F238E27FC236}">
                <a16:creationId xmlns:a16="http://schemas.microsoft.com/office/drawing/2014/main" id="{5677E2E1-1FF2-D7CD-078A-27C820C1E94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323213" y="1354666"/>
            <a:ext cx="1208159" cy="1016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02EAB8D-F2EB-1159-03DE-CA7B6CF87517}"/>
              </a:ext>
            </a:extLst>
          </p:cNvPr>
          <p:cNvSpPr txBox="1"/>
          <p:nvPr/>
        </p:nvSpPr>
        <p:spPr>
          <a:xfrm>
            <a:off x="266948" y="1175732"/>
            <a:ext cx="5955604" cy="52629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3551B8"/>
                </a:solidFill>
                <a:latin typeface="Verdana Pro"/>
              </a:rPr>
              <a:t>These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technologies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were chosen to build the system:</a:t>
            </a:r>
          </a:p>
          <a:p>
            <a:endParaRPr lang="en-GB" sz="2400" dirty="0">
              <a:solidFill>
                <a:srgbClr val="3551B8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Frontend: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HTML, CSS, HTMX (JS)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Backend: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Django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3551B8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Database: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PostgreSQL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Virtualization: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VirtualBox</a:t>
            </a:r>
            <a:br>
              <a:rPr lang="en-GB" sz="2400" dirty="0">
                <a:solidFill>
                  <a:srgbClr val="3551B8"/>
                </a:solidFill>
                <a:latin typeface="Verdana Pro"/>
              </a:rPr>
            </a:br>
            <a:r>
              <a:rPr lang="en-GB" sz="2400" i="1" dirty="0">
                <a:solidFill>
                  <a:srgbClr val="3551B8"/>
                </a:solidFill>
                <a:latin typeface="Verdana Pro"/>
              </a:rPr>
              <a:t>(Ubuntu Server 24.04 LTS)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3551B8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b="1" dirty="0">
                <a:solidFill>
                  <a:srgbClr val="07164D"/>
                </a:solidFill>
                <a:latin typeface="Verdana Pro"/>
              </a:rPr>
              <a:t>Monitoring:</a:t>
            </a:r>
            <a:r>
              <a:rPr lang="en-GB" sz="2400" dirty="0">
                <a:solidFill>
                  <a:srgbClr val="07164D"/>
                </a:solidFill>
                <a:latin typeface="Verdana Pro"/>
              </a:rPr>
              <a:t>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Prometheus &amp; Grafana</a:t>
            </a:r>
          </a:p>
        </p:txBody>
      </p:sp>
      <p:pic>
        <p:nvPicPr>
          <p:cNvPr id="3" name="Picture 2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6B90E2F1-E7B4-67E9-7039-9EBBFFEAF9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0499" y="-508000"/>
            <a:ext cx="3090334" cy="3132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80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EFBC-3731-0085-8DDA-F026892BA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6DA0FF-141A-3941-BB98-A0E48C0548D7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31518A-D459-F8E3-3F75-F444F2118D4B}"/>
              </a:ext>
            </a:extLst>
          </p:cNvPr>
          <p:cNvSpPr/>
          <p:nvPr/>
        </p:nvSpPr>
        <p:spPr>
          <a:xfrm>
            <a:off x="266211" y="228653"/>
            <a:ext cx="5818077" cy="636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33944E-A4D4-C7A0-AB4B-644631AA3354}"/>
              </a:ext>
            </a:extLst>
          </p:cNvPr>
          <p:cNvSpPr txBox="1"/>
          <p:nvPr/>
        </p:nvSpPr>
        <p:spPr>
          <a:xfrm>
            <a:off x="363228" y="362828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Complexity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31930D-560F-08BB-3FC1-1810F4D541D9}"/>
              </a:ext>
            </a:extLst>
          </p:cNvPr>
          <p:cNvSpPr txBox="1"/>
          <p:nvPr/>
        </p:nvSpPr>
        <p:spPr>
          <a:xfrm>
            <a:off x="358942" y="1101649"/>
            <a:ext cx="5607169" cy="5262979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3551B8"/>
                </a:solidFill>
                <a:latin typeface="Verdana Pro"/>
              </a:rPr>
              <a:t>With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three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interconnected virtual machines running a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variety of technologies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– the complexity in this project is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significant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.</a:t>
            </a:r>
          </a:p>
          <a:p>
            <a:endParaRPr lang="en-GB" sz="2400" dirty="0">
              <a:solidFill>
                <a:srgbClr val="3551B8"/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Rich Role-Based Domain Logic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&amp;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 Access Control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 Semibold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Distributed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&amp;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 Database Backed Architecture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 Semibold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Concurrent User Support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rgbClr val="07164D"/>
              </a:solidFill>
              <a:latin typeface="Verdana Pro Semibold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Dynamic User Interface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E24133-649C-162A-CED9-3BA66970B5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55" t="-66" r="4217" b="232"/>
          <a:stretch>
            <a:fillRect/>
          </a:stretch>
        </p:blipFill>
        <p:spPr>
          <a:xfrm>
            <a:off x="6212459" y="228653"/>
            <a:ext cx="5681587" cy="636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02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A7EF-55A3-91B8-37F4-FF163871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735D2A-827F-9C71-5495-D89B38C5714D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32CC1B-CBE1-B143-712A-08BB9FB7F3B0}"/>
              </a:ext>
            </a:extLst>
          </p:cNvPr>
          <p:cNvSpPr/>
          <p:nvPr/>
        </p:nvSpPr>
        <p:spPr>
          <a:xfrm>
            <a:off x="266211" y="228653"/>
            <a:ext cx="5818077" cy="63619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AFF8-DA3B-63DC-9014-6EA68FB3BE3C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Testing &amp; Evaluation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3E07F3-8C46-CF34-D892-84A2C3E65748}"/>
              </a:ext>
            </a:extLst>
          </p:cNvPr>
          <p:cNvSpPr txBox="1"/>
          <p:nvPr/>
        </p:nvSpPr>
        <p:spPr>
          <a:xfrm>
            <a:off x="380108" y="1101649"/>
            <a:ext cx="5607169" cy="538609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rgbClr val="3551B8"/>
                </a:solidFill>
                <a:latin typeface="Verdana Pro"/>
              </a:rPr>
              <a:t>Numerous different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testing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and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evaluation methods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will be used.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Testing: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Black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 / 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White Box Testing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Unit Testing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800" b="1" dirty="0">
                <a:solidFill>
                  <a:srgbClr val="07164D"/>
                </a:solidFill>
                <a:latin typeface="Verdana Pro"/>
              </a:rPr>
              <a:t>Evaluation: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Nielsen's Heuristics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User Feedback</a:t>
            </a:r>
            <a:endParaRPr lang="en-GB">
              <a:solidFill>
                <a:srgbClr val="07164D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TPC </a:t>
            </a:r>
            <a:r>
              <a:rPr lang="en-GB" sz="2400" dirty="0">
                <a:solidFill>
                  <a:srgbClr val="3551B8"/>
                </a:solidFill>
                <a:latin typeface="Verdana Pro"/>
              </a:rPr>
              <a:t>/</a:t>
            </a: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 CIS Benchmarks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rgbClr val="07164D"/>
                </a:solidFill>
                <a:latin typeface="Verdana Pro Semibold"/>
              </a:rPr>
              <a:t>Four Golden Signals</a:t>
            </a:r>
            <a:endParaRPr lang="en-GB" sz="2400" b="1">
              <a:solidFill>
                <a:srgbClr val="07164D"/>
              </a:solidFill>
              <a:latin typeface="Verdana Pro Semibo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BA2670-B31D-9C8D-5480-51842CC6C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6" t="-66" r="2164" b="232"/>
          <a:stretch>
            <a:fillRect/>
          </a:stretch>
        </p:blipFill>
        <p:spPr>
          <a:xfrm>
            <a:off x="6262402" y="260403"/>
            <a:ext cx="5593073" cy="630769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68502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7DEEC-6C2B-52D8-EEA8-A39A80E2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0DB37E3-2248-F5E7-8F24-68226B25B60E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780344-37DF-93B3-E366-45719C1C1BCB}"/>
              </a:ext>
            </a:extLst>
          </p:cNvPr>
          <p:cNvSpPr txBox="1"/>
          <p:nvPr/>
        </p:nvSpPr>
        <p:spPr>
          <a:xfrm>
            <a:off x="373811" y="352245"/>
            <a:ext cx="560716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The Prototype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CA7133-F913-3F8D-90ED-FCCF36A631C4}"/>
              </a:ext>
            </a:extLst>
          </p:cNvPr>
          <p:cNvSpPr txBox="1"/>
          <p:nvPr/>
        </p:nvSpPr>
        <p:spPr>
          <a:xfrm>
            <a:off x="380108" y="1101649"/>
            <a:ext cx="5607169" cy="538609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Numerous different testing and evaluation methods will be used.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Testing: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Black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/ 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White Box Testing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Unit Testing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Evaluation: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Nielsen's Heuristics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User Feedback</a:t>
            </a:r>
            <a:endParaRPr lang="en-GB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TPC / CIS Benchmarks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Four Golden Signals</a:t>
            </a: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Verdana Pro Semibold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1B0267-8ECA-2F10-80E0-B5F711388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518"/>
          <a:stretch>
            <a:fillRect/>
          </a:stretch>
        </p:blipFill>
        <p:spPr>
          <a:xfrm>
            <a:off x="254000" y="235798"/>
            <a:ext cx="11673417" cy="4632772"/>
          </a:xfrm>
          <a:prstGeom prst="rect">
            <a:avLst/>
          </a:prstGeom>
          <a:ln w="28575">
            <a:solidFill>
              <a:srgbClr val="07164D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61A023E-5C72-9149-8591-95573180FC0B}"/>
              </a:ext>
            </a:extLst>
          </p:cNvPr>
          <p:cNvSpPr txBox="1"/>
          <p:nvPr/>
        </p:nvSpPr>
        <p:spPr>
          <a:xfrm>
            <a:off x="222250" y="4822393"/>
            <a:ext cx="11747499" cy="1815882"/>
          </a:xfrm>
          <a:prstGeom prst="rect">
            <a:avLst/>
          </a:prstGeom>
          <a:solidFill>
            <a:srgbClr val="07164D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4000" b="1" dirty="0">
              <a:solidFill>
                <a:srgbClr val="163E64"/>
              </a:solidFill>
              <a:latin typeface="Verdana Pro"/>
              <a:ea typeface="Calibri"/>
              <a:cs typeface="Calibri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THE PROTOTYPE</a:t>
            </a:r>
            <a:endParaRPr lang="en-US" sz="4000">
              <a:solidFill>
                <a:schemeClr val="bg1"/>
              </a:solidFill>
            </a:endParaRPr>
          </a:p>
          <a:p>
            <a:pPr algn="ctr"/>
            <a:endParaRPr lang="en-US" sz="3200" b="1" dirty="0">
              <a:solidFill>
                <a:srgbClr val="163E64"/>
              </a:solidFill>
              <a:latin typeface="Verdana Pro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1258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11DEF-4D5A-1146-84A3-F0C3C133D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EEDAC0C-99E5-4812-4327-F2FCC677206B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3551B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00BD88-FA47-6F6E-6C80-4AAD51A3F04A}"/>
              </a:ext>
            </a:extLst>
          </p:cNvPr>
          <p:cNvSpPr txBox="1"/>
          <p:nvPr/>
        </p:nvSpPr>
        <p:spPr>
          <a:xfrm>
            <a:off x="380108" y="1101649"/>
            <a:ext cx="5607169" cy="538609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Numerous different testing and evaluation methods will be used.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Testing: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Black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 / </a:t>
            </a: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White Box Testing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Unit Testing</a:t>
            </a:r>
          </a:p>
          <a:p>
            <a:pPr marL="342900" indent="-342900">
              <a:buFont typeface="Arial"/>
              <a:buChar char="•"/>
            </a:pPr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r>
              <a:rPr lang="en-GB" sz="28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"/>
              </a:rPr>
              <a:t>Evaluation:</a:t>
            </a:r>
          </a:p>
          <a:p>
            <a:endParaRPr lang="en-GB" sz="2400" dirty="0">
              <a:solidFill>
                <a:schemeClr val="tx2">
                  <a:lumMod val="90000"/>
                  <a:lumOff val="10000"/>
                </a:schemeClr>
              </a:solidFill>
              <a:latin typeface="Verdana Pro"/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Nielsen's Heuristics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User Feedback</a:t>
            </a:r>
            <a:endParaRPr lang="en-GB">
              <a:solidFill>
                <a:schemeClr val="tx2">
                  <a:lumMod val="90000"/>
                  <a:lumOff val="10000"/>
                </a:schemeClr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TPC / CIS Benchmarks</a:t>
            </a:r>
          </a:p>
          <a:p>
            <a:pPr marL="342900" indent="-342900">
              <a:buFont typeface="Arial"/>
              <a:buChar char="•"/>
            </a:pPr>
            <a:r>
              <a:rPr lang="en-GB" sz="2400" dirty="0">
                <a:solidFill>
                  <a:schemeClr val="tx2">
                    <a:lumMod val="90000"/>
                    <a:lumOff val="10000"/>
                  </a:schemeClr>
                </a:solidFill>
                <a:latin typeface="Verdana Pro Semibold"/>
              </a:rPr>
              <a:t>Four Golden Signals</a:t>
            </a:r>
            <a:endParaRPr lang="en-GB" sz="2400" b="1" dirty="0">
              <a:solidFill>
                <a:schemeClr val="tx2">
                  <a:lumMod val="90000"/>
                  <a:lumOff val="10000"/>
                </a:schemeClr>
              </a:solidFill>
              <a:latin typeface="Verdana Pro Semibold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0004AA-63E7-6C41-BFE5-5D929D50AD3E}"/>
              </a:ext>
            </a:extLst>
          </p:cNvPr>
          <p:cNvSpPr/>
          <p:nvPr/>
        </p:nvSpPr>
        <p:spPr>
          <a:xfrm>
            <a:off x="281679" y="254814"/>
            <a:ext cx="11631083" cy="6352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74D2716-FCC0-01FC-A6FE-0A8368B12EC9}"/>
              </a:ext>
            </a:extLst>
          </p:cNvPr>
          <p:cNvSpPr txBox="1"/>
          <p:nvPr/>
        </p:nvSpPr>
        <p:spPr>
          <a:xfrm>
            <a:off x="275981" y="4916999"/>
            <a:ext cx="11622943" cy="1692771"/>
          </a:xfrm>
          <a:prstGeom prst="rect">
            <a:avLst/>
          </a:prstGeom>
          <a:solidFill>
            <a:srgbClr val="07164D"/>
          </a:solidFill>
          <a:ln w="28575">
            <a:solidFill>
              <a:srgbClr val="07164D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3200" b="1" dirty="0">
              <a:solidFill>
                <a:schemeClr val="bg1"/>
              </a:solidFill>
              <a:latin typeface="Verdana Pro"/>
              <a:ea typeface="Calibri"/>
              <a:cs typeface="Calibri"/>
            </a:endParaRPr>
          </a:p>
          <a:p>
            <a:pPr algn="ctr"/>
            <a:r>
              <a:rPr lang="en-US" sz="4000" b="1" dirty="0">
                <a:solidFill>
                  <a:schemeClr val="bg1"/>
                </a:solidFill>
                <a:latin typeface="Verdana Pro"/>
                <a:ea typeface="Calibri"/>
                <a:cs typeface="Calibri"/>
              </a:rPr>
              <a:t>TIME FOR THE DEMO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endParaRPr lang="en-US" sz="3200" b="1" dirty="0">
              <a:solidFill>
                <a:schemeClr val="bg1"/>
              </a:solidFill>
              <a:latin typeface="Verdana Pro"/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19D9C5-3C8D-4246-CAB2-04EBFB0907D2}"/>
              </a:ext>
            </a:extLst>
          </p:cNvPr>
          <p:cNvSpPr txBox="1"/>
          <p:nvPr/>
        </p:nvSpPr>
        <p:spPr>
          <a:xfrm>
            <a:off x="423334" y="433915"/>
            <a:ext cx="11588750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dirty="0">
                <a:solidFill>
                  <a:srgbClr val="07164D"/>
                </a:solidFill>
                <a:latin typeface="Verdana Pro"/>
              </a:rPr>
              <a:t>Interim Features</a:t>
            </a:r>
            <a:br>
              <a:rPr lang="en-US" sz="2400" dirty="0">
                <a:solidFill>
                  <a:srgbClr val="07164D"/>
                </a:solidFill>
                <a:latin typeface="Verdana Pro Light"/>
              </a:rPr>
            </a:br>
            <a:r>
              <a:rPr lang="en-US" sz="2400" dirty="0">
                <a:solidFill>
                  <a:srgbClr val="3551B8"/>
                </a:solidFill>
                <a:latin typeface="Verdana Pro"/>
              </a:rPr>
              <a:t>Student &amp; Lecturer</a:t>
            </a:r>
            <a:endParaRPr lang="en-US" sz="3600" b="1" dirty="0">
              <a:solidFill>
                <a:srgbClr val="3551B8"/>
              </a:solidFill>
              <a:latin typeface="Verdana Pro"/>
            </a:endParaRPr>
          </a:p>
          <a:p>
            <a:endParaRPr lang="en-US" sz="2800" dirty="0">
              <a:solidFill>
                <a:srgbClr val="07164D"/>
              </a:solidFill>
              <a:latin typeface="Verdana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7164D"/>
                </a:solidFill>
                <a:latin typeface="Verdana Pro Semibold"/>
              </a:rPr>
              <a:t>Login System (</a:t>
            </a:r>
            <a:r>
              <a:rPr lang="en-US" sz="2400" b="1" dirty="0">
                <a:solidFill>
                  <a:srgbClr val="07164D"/>
                </a:solidFill>
                <a:latin typeface="Verdana Pro Semibold"/>
              </a:rPr>
              <a:t>&amp;</a:t>
            </a:r>
            <a:r>
              <a:rPr lang="en-US" sz="2400" dirty="0">
                <a:solidFill>
                  <a:srgbClr val="07164D"/>
                </a:solidFill>
                <a:latin typeface="Verdana Pro Semibold"/>
              </a:rPr>
              <a:t> Logout)</a:t>
            </a:r>
          </a:p>
          <a:p>
            <a:endParaRPr lang="en-US" sz="2400" dirty="0">
              <a:solidFill>
                <a:srgbClr val="07164D"/>
              </a:solidFill>
              <a:latin typeface="Verdana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7164D"/>
                </a:solidFill>
                <a:latin typeface="Verdana Pro Semibold"/>
              </a:rPr>
              <a:t>Module Functionality</a:t>
            </a:r>
          </a:p>
          <a:p>
            <a:pPr marL="285750" indent="-285750">
              <a:buFont typeface="Arial"/>
              <a:buChar char="•"/>
            </a:pPr>
            <a:endParaRPr lang="en-US" sz="2400" dirty="0">
              <a:solidFill>
                <a:srgbClr val="07164D"/>
              </a:solidFill>
              <a:latin typeface="Verdana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7164D"/>
                </a:solidFill>
                <a:latin typeface="Verdana Pro Semibold"/>
              </a:rPr>
              <a:t>Assignment Functionality</a:t>
            </a:r>
          </a:p>
          <a:p>
            <a:pPr marL="285750" indent="-285750">
              <a:buFont typeface="Arial"/>
              <a:buChar char="•"/>
            </a:pPr>
            <a:endParaRPr lang="en-US" sz="2400" dirty="0">
              <a:solidFill>
                <a:srgbClr val="07164D"/>
              </a:solidFill>
              <a:latin typeface="Verdana Pro"/>
            </a:endParaRPr>
          </a:p>
          <a:p>
            <a:pPr marL="285750" indent="-285750">
              <a:buFont typeface="Arial"/>
              <a:buChar char="•"/>
            </a:pPr>
            <a:r>
              <a:rPr lang="en-US" sz="2400" dirty="0">
                <a:solidFill>
                  <a:srgbClr val="07164D"/>
                </a:solidFill>
                <a:latin typeface="Verdana Pro Semibold"/>
              </a:rPr>
              <a:t>Navigation Menus &amp; Links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E7E215-38ED-1AC9-32B3-5CAC7D93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985" y="270814"/>
            <a:ext cx="5285560" cy="4659676"/>
          </a:xfrm>
          <a:prstGeom prst="rect">
            <a:avLst/>
          </a:prstGeom>
          <a:ln w="28575">
            <a:solidFill>
              <a:srgbClr val="07164D"/>
            </a:solidFill>
          </a:ln>
        </p:spPr>
      </p:pic>
    </p:spTree>
    <p:extLst>
      <p:ext uri="{BB962C8B-B14F-4D97-AF65-F5344CB8AC3E}">
        <p14:creationId xmlns:p14="http://schemas.microsoft.com/office/powerpoint/2010/main" val="3112728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FC0F-8E9D-8E89-C8B7-8CB31805A7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DD25E5-39EE-21D1-AE7D-B947240914B8}"/>
              </a:ext>
            </a:extLst>
          </p:cNvPr>
          <p:cNvSpPr/>
          <p:nvPr/>
        </p:nvSpPr>
        <p:spPr>
          <a:xfrm>
            <a:off x="120366" y="116801"/>
            <a:ext cx="11947584" cy="6627962"/>
          </a:xfrm>
          <a:prstGeom prst="rect">
            <a:avLst/>
          </a:prstGeom>
          <a:solidFill>
            <a:srgbClr val="07164D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BFF6-D2F2-0C7C-6FB6-5899077195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GB" sz="9600" b="1" dirty="0">
                <a:solidFill>
                  <a:schemeClr val="bg1"/>
                </a:solidFill>
                <a:latin typeface="Verdana Pro"/>
                <a:cs typeface="Mangal"/>
              </a:rPr>
              <a:t>THANK YOU.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AFD74-07E9-84A9-7612-9B53D45FC6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sz="3200" dirty="0">
              <a:solidFill>
                <a:schemeClr val="bg1"/>
              </a:solidFill>
              <a:latin typeface="Verdana Pro Light"/>
            </a:endParaRPr>
          </a:p>
          <a:p>
            <a:r>
              <a:rPr lang="en-GB" sz="3200" dirty="0">
                <a:solidFill>
                  <a:schemeClr val="bg1"/>
                </a:solidFill>
                <a:latin typeface="Verdana Pro Light"/>
              </a:rPr>
              <a:t>Any Questions?</a:t>
            </a:r>
            <a:endParaRPr lang="en-GB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141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EAGNA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1125</cp:revision>
  <dcterms:created xsi:type="dcterms:W3CDTF">2025-11-15T02:05:56Z</dcterms:created>
  <dcterms:modified xsi:type="dcterms:W3CDTF">2025-11-28T15:28:30Z</dcterms:modified>
</cp:coreProperties>
</file>